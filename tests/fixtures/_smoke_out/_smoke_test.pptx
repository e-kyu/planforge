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소요 시간(h)</c:v>
                </c:pt>
              </c:strCache>
            </c:strRef>
          </c:tx>
          <c:spPr>
            <a:solidFill>
              <a:srgbClr val="2E6DB4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2026(제안)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14</c:v>
                </c:pt>
                <c:pt idx="2">
                  <c:v>2.5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66666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B8E0"/>
                </a:solidFill>
                <a:latin typeface="Malgun Gothic"/>
              </a:rPr>
              <a:t>○○주식회사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업무 자동화 도입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FB8E0"/>
                </a:solidFill>
                <a:latin typeface="Malgun Gothic"/>
              </a:rPr>
              <a:t>반복 보고 업무의 효율화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B8E0"/>
                </a:solidFill>
                <a:latin typeface="Malgun Gothic"/>
              </a:rPr>
              <a:t>2026. 9. 2.  기획팀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algun Gothic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6DB4"/>
                </a:solidFill>
                <a:latin typeface="Malgun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0848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algun Gothic"/>
              </a:rPr>
              <a:t>현황 및 문제점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6DB4"/>
                </a:solidFill>
                <a:latin typeface="Malgun Gothi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18211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algun Gothic"/>
              </a:rPr>
              <a:t>개선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6DB4"/>
                </a:solidFill>
                <a:latin typeface="Malgun Gothic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2793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algun Gothic"/>
              </a:rPr>
              <a:t>기대 효과 및 요청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algun Gothic"/>
              </a:rPr>
              <a:t>현황 및 문제점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6DB4"/>
                </a:solidFill>
                <a:latin typeface="Malgun Gothic"/>
              </a:rPr>
              <a:t>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E6DB4"/>
                </a:solidFill>
                <a:latin typeface="Malgun Gothic"/>
              </a:rPr>
              <a:t>보고 작성  </a:t>
            </a:r>
            <a:r>
              <a:rPr sz="1300">
                <a:solidFill>
                  <a:srgbClr val="222222"/>
                </a:solidFill>
                <a:latin typeface="Malgun Gothic"/>
              </a:rPr>
              <a:t>주 10시간 수기 작성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6DB4"/>
                </a:solidFill>
                <a:latin typeface="Malgun Gothic"/>
              </a:rPr>
              <a:t>데이터 취합  </a:t>
            </a:r>
            <a:r>
              <a:rPr sz="1300">
                <a:solidFill>
                  <a:srgbClr val="222222"/>
                </a:solidFill>
                <a:latin typeface="Malgun Gothic"/>
              </a:rPr>
              <a:t>부서별 양식 상이로 수작업 취합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59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6DB4"/>
                </a:solidFill>
                <a:latin typeface="Malgun Gothic"/>
              </a:rPr>
              <a:t>문제점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214884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E6DB4"/>
                </a:solidFill>
                <a:latin typeface="Malgun Gothic"/>
              </a:rPr>
              <a:t>시간 낭비  </a:t>
            </a:r>
            <a:r>
              <a:rPr sz="1300">
                <a:solidFill>
                  <a:srgbClr val="222222"/>
                </a:solidFill>
                <a:latin typeface="Malgun Gothic"/>
              </a:rPr>
              <a:t>단순 반복 업무에 인력 소모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6DB4"/>
                </a:solidFill>
                <a:latin typeface="Malgun Gothic"/>
              </a:rPr>
              <a:t>오류 위험  </a:t>
            </a:r>
            <a:r>
              <a:rPr sz="1300">
                <a:solidFill>
                  <a:srgbClr val="222222"/>
                </a:solidFill>
                <a:latin typeface="Malgun Gothic"/>
              </a:rPr>
              <a:t>수기 전사 과정에서 실수 발생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algun Gothic"/>
              </a:rPr>
              <a:t>업무 시간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T="0">
                    <a:solidFill>
                      <a:srgbClr val="1F3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현재</a:t>
                      </a:r>
                    </a:p>
                  </a:txBody>
                  <a:tcPr marT="0">
                    <a:solidFill>
                      <a:srgbClr val="1F3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제안 후</a:t>
                      </a:r>
                    </a:p>
                  </a:txBody>
                  <a:tcPr marT="0">
                    <a:solidFill>
                      <a:srgbClr val="1F3B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보고 작성 (주)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10시간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2시간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데이터 취합 (주)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4시간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0.5시간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오류 건수 (월)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3건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035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algun Gothic"/>
              </a:rPr>
              <a:t>근거/출처: interview-log [2026-09-09] 효과 수치 정책 (샘플)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algun Gothic"/>
              </a:rPr>
              <a:t>자동화 시스템 구성도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82880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E6DB4"/>
                </a:solidFill>
                <a:latin typeface="Malgun Gothic"/>
              </a:rPr>
              <a:t>사용자 계층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463040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463040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보고 작성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8604" y="1463040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8604" y="1463040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관리자 화면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96312"/>
            <a:ext cx="182880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96312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E6DB4"/>
                </a:solidFill>
                <a:latin typeface="Malgun Gothic"/>
              </a:rPr>
              <a:t>서비스 계층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587752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587752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보고 생성 서비스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8604" y="2587752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8604" y="2587752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데이터 취합 서비스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21024"/>
            <a:ext cx="182880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21024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E6DB4"/>
                </a:solidFill>
                <a:latin typeface="Malgun Gothic"/>
              </a:rPr>
              <a:t>데이터 계층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712463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712463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보고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18604" y="3712463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8604" y="3712463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템플릿 저장소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algun Gothic"/>
              </a:rPr>
              <a:t>주간 보고 소요 시간 추이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10698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algun Gothic"/>
              </a:rPr>
              <a:t>출처: (미확정 - 샘플 데이터)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기대 효과 및 요청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효과  </a:t>
            </a:r>
            <a:r>
              <a:rPr sz="1600">
                <a:solidFill>
                  <a:srgbClr val="FFFFFF"/>
                </a:solidFill>
                <a:latin typeface="Malgun Gothic"/>
              </a:rPr>
              <a:t>주 11.5시간 업무 시간 절감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품질  </a:t>
            </a:r>
            <a:r>
              <a:rPr sz="1600">
                <a:solidFill>
                  <a:srgbClr val="FFFFFF"/>
                </a:solidFill>
                <a:latin typeface="Malgun Gothic"/>
              </a:rPr>
              <a:t>수기 오류 제거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B8E0"/>
                </a:solidFill>
                <a:latin typeface="Malgun Gothic"/>
              </a:rPr>
              <a:t>요청: 4분기 시범 도입 승인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