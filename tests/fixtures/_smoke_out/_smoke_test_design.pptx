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B8E0"/>
                </a:solidFill>
                <a:latin typeface="Malgun Gothic"/>
              </a:rPr>
              <a:t>○○주식회사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업무 자동화 시스템 개발설계서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FB8E0"/>
                </a:solidFill>
                <a:latin typeface="Malgun Gothic"/>
              </a:rPr>
              <a:t>보고 생성·데이터 취합 파이프라인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B8E0"/>
                </a:solidFill>
                <a:latin typeface="Malgun Gothic"/>
              </a:rPr>
              <a:t>2026. 9. 2.  기획팀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algun Gothic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6DB4"/>
                </a:solidFill>
                <a:latin typeface="Malgun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0848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algun Gothic"/>
              </a:rPr>
              <a:t>시스템 구성도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6DB4"/>
                </a:solidFill>
                <a:latin typeface="Malgun Gothi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18211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algun Gothic"/>
              </a:rPr>
              <a:t>인터페이스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6DB4"/>
                </a:solidFill>
                <a:latin typeface="Malgun Gothic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2793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Malgun Gothic"/>
              </a:rPr>
              <a:t>확인 및 합의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algun Gothic"/>
              </a:rPr>
              <a:t>시스템 구성도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82880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E6DB4"/>
                </a:solidFill>
                <a:latin typeface="Malgun Gothic"/>
              </a:rPr>
              <a:t>사용자 계층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463040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463040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보고 작성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8604" y="1463040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8604" y="1463040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관리자 화면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96312"/>
            <a:ext cx="182880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96312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E6DB4"/>
                </a:solidFill>
                <a:latin typeface="Malgun Gothic"/>
              </a:rPr>
              <a:t>서비스 계층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587752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587752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보고 생성 서비스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8604" y="2587752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8604" y="2587752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데이터 취합 서비스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21024"/>
            <a:ext cx="182880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21024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E6DB4"/>
                </a:solidFill>
                <a:latin typeface="Malgun Gothic"/>
              </a:rPr>
              <a:t>데이터 계층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712463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712463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보고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18604" y="3712463"/>
            <a:ext cx="449427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8604" y="3712463"/>
            <a:ext cx="449427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Malgun Gothic"/>
              </a:rPr>
              <a:t>템플릿 저장소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algun Gothic"/>
              </a:rPr>
              <a:t>근거/출처: interview-log [2026-09-09] 시스템 구성 확정 (샘플)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algun Gothic"/>
              </a:rPr>
              <a:t>인터페이스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연동 대상</a:t>
                      </a:r>
                    </a:p>
                  </a:txBody>
                  <a:tcPr marT="0">
                    <a:solidFill>
                      <a:srgbClr val="1F3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방식</a:t>
                      </a:r>
                    </a:p>
                  </a:txBody>
                  <a:tcPr marT="0">
                    <a:solidFill>
                      <a:srgbClr val="1F3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주기</a:t>
                      </a:r>
                    </a:p>
                  </a:txBody>
                  <a:tcPr marT="0">
                    <a:solidFill>
                      <a:srgbClr val="1F3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T="0">
                    <a:solidFill>
                      <a:srgbClr val="1F3B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인사 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조직·사원 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결재 시스템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파일 배치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주 1회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algun Gothic"/>
                        </a:rPr>
                        <a:t>보고서 원본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035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algun Gothic"/>
              </a:rPr>
              <a:t>근거/출처: (미확정) — 연동 대상·주기는 개발팀 협의 필요 (샘플)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확인 및 합의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구성  </a:t>
            </a:r>
            <a:r>
              <a:rPr sz="1600">
                <a:solidFill>
                  <a:srgbClr val="FFFFFF"/>
                </a:solidFill>
                <a:latin typeface="Malgun Gothic"/>
              </a:rPr>
              <a:t>3계층 구성의 개발팀 합의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인터페이스  </a:t>
            </a:r>
            <a:r>
              <a:rPr sz="1600">
                <a:solidFill>
                  <a:srgbClr val="FFFFFF"/>
                </a:solidFill>
                <a:latin typeface="Malgun Gothic"/>
              </a:rPr>
              <a:t>연동 방식·주기 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B8E0"/>
                </a:solidFill>
                <a:latin typeface="Malgun Gothic"/>
              </a:rPr>
              <a:t>확인: 시스템 구성·인터페이스 방식의 개발팀 합의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